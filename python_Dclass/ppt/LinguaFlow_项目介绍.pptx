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959"/>
              </a:spcAft>
              <a:defRPr sz="4800" b="1">
                <a:solidFill>
                  <a:srgbClr val="1A1A1A"/>
                </a:solidFill>
                <a:latin typeface="Microsoft YaHei"/>
              </a:defRPr>
            </a:pPr>
            <a:r>
              <a:t>LinguaFlow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601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79"/>
              </a:spcAft>
              <a:defRPr sz="2400" b="0">
                <a:solidFill>
                  <a:srgbClr val="2980B9"/>
                </a:solidFill>
                <a:latin typeface="Microsoft YaHei"/>
              </a:defRPr>
            </a:pPr>
            <a:r>
              <a:t>智能多语言桌面翻译器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9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基于 Python CustomTkinter · 双后端架构 · 45+ 语言支持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931920"/>
            <a:ext cx="2743200" cy="25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19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Python 课程项目  |  Desktop GUI Application  |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601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MyMemory (Free) + Baidu Translate API  |  TTS 语音朗读  |  键盘快捷键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项目背景：为什么要做这个翻译器？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4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网页翻译器依赖浏览器，隐私数据经第三方服务器，敏感文本（合同、论文）存在泄露风险</a:t>
            </a:r>
          </a:p>
          <a:p>
            <a:pPr>
              <a:spcAft>
                <a:spcPts val="84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命令行翻译工具（如 translate-shell）功能强大，但对普通用户不友好，学习曲线陡峭</a:t>
            </a:r>
          </a:p>
          <a:p>
            <a:pPr>
              <a:spcAft>
                <a:spcPts val="84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免费在线 API 普遍有字符数限制、请求频率限制；专业翻译软件价格昂贵</a:t>
            </a:r>
          </a:p>
          <a:p>
            <a:pPr>
              <a:spcAft>
                <a:spcPts val="840"/>
              </a:spcAft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桌面端缺少一款「开箱即用、零配置、覆盖主流语种」的轻量翻译工具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4389120"/>
            <a:ext cx="758952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4526280"/>
            <a:ext cx="7040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核心洞察：翻译是高频刚需，但现有工具在「便捷性 × 隐私性 × 免费可用」三角中</a:t>
            </a:r>
            <a:br/>
            <a:r>
              <a:t>总是牺牲其中一极。LinguaFlow 试图同时满足三者。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40"/>
              </a:spcAft>
              <a:defRPr sz="700" b="0">
                <a:solidFill>
                  <a:srgbClr val="666666"/>
                </a:solidFill>
                <a:latin typeface="Microsoft YaHei"/>
              </a:defRPr>
            </a:pPr>
            <a:r>
              <a:t>translator.py — LinguaFlow 项目源码分析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设计目标与核心指标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Design Goals &amp; Key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91840" cy="29260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9"/>
              </a:spcAft>
              <a:defRPr sz="1600" b="1">
                <a:solidFill>
                  <a:srgbClr val="2980B9"/>
                </a:solidFill>
                <a:latin typeface="Microsoft YaHei"/>
              </a:defRPr>
            </a:pPr>
            <a:r>
              <a:t>零成本开箱即用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283464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720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MyMemory 免费 API</a:t>
            </a:r>
            <a:br/>
            <a:r>
              <a:t>无需注册 / 无需密钥</a:t>
            </a:r>
            <a:br/>
            <a:r>
              <a:t>下载即用，零配置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9184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544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9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高精度可选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283464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720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百度翻译 API 后端</a:t>
            </a:r>
            <a:br/>
            <a:r>
              <a:t>中英翻译精度更高</a:t>
            </a:r>
            <a:br/>
            <a:r>
              <a:t>适合专业场景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29184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544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9"/>
              </a:spcAft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桌面原生体验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03120"/>
            <a:ext cx="283464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720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CustomTkinter 现代 UI</a:t>
            </a:r>
            <a:br/>
            <a:r>
              <a:t>自适应系统明暗主题</a:t>
            </a:r>
            <a:br/>
            <a:r>
              <a:t>原生控件，响应迅速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5488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2980B9"/>
                </a:solidFill>
                <a:latin typeface="Microsoft YaHei"/>
              </a:defRPr>
            </a:pPr>
            <a:r>
              <a:t>45+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19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支持语言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475488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8463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2980B9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3492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19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翻译后端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75488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8463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2980B9"/>
                </a:solidFill>
                <a:latin typeface="Microsoft YaHei"/>
              </a:defRPr>
            </a:pPr>
            <a:r>
              <a:t>Ctrl+Enter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492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19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一键翻译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475488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48463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2980B9"/>
                </a:solidFill>
                <a:latin typeface="Microsoft YaHei"/>
              </a:defRPr>
            </a:pPr>
            <a:r>
              <a:t>&lt;1s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3492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19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典型响应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核心设计：双后端抽象架构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Backend Polymorphism — 策略模式的应用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1645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定义 Backend 抽象基类，声明统一的 translate() 接口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MyMemoryBackend 和 BaiduBackend 分别实现，调用方无需关心细节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新增后端（如 DeepL、Google）只需继承 Backend 并实现 translate()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25880"/>
            <a:ext cx="5486400" cy="30175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1732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1">
                <a:solidFill>
                  <a:srgbClr val="666666"/>
                </a:solidFill>
                <a:latin typeface="Consolas"/>
              </a:defRPr>
            </a:pPr>
            <a:r>
              <a:t>translator.py — Backend 基类 (L82-88)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18488"/>
            <a:ext cx="5212080" cy="2697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5"/>
              </a:spcAft>
              <a:defRPr sz="900" b="0">
                <a:solidFill>
                  <a:srgbClr val="1A1A1A"/>
                </a:solidFill>
                <a:latin typeface="Consolas"/>
              </a:defRPr>
            </a:pPr>
            <a:r>
              <a:t>class Backend:</a:t>
            </a:r>
            <a:br/>
            <a:r>
              <a:t>    """Abstract translation backend."""</a:t>
            </a:r>
            <a:br/>
            <a:r>
              <a:t>    name: str = ""</a:t>
            </a:r>
            <a:br/>
            <a:r>
              <a:t>    needs_key: bool = False</a:t>
            </a:r>
            <a:br/>
            <a:br/>
            <a:r>
              <a:t>    def translate(self, text: str, src_key: str,</a:t>
            </a:r>
            <a:br/>
            <a:r>
              <a:t>                  tgt_key: str) -&gt; str:</a:t>
            </a:r>
            <a:br/>
            <a:r>
              <a:t>        raise NotImplementedError</a:t>
            </a:r>
            <a:br/>
            <a:br/>
            <a:r>
              <a:t># 调用方：多态 — 无需知道具体后端</a:t>
            </a:r>
            <a:br/>
            <a:r>
              <a:t>self.backend = MyMemoryBackend()   # or BaiduBackend(...)</a:t>
            </a:r>
            <a:br/>
            <a:r>
              <a:t>result = self.backend.translate(text, src, tgt)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设计思路：面向接口编程，而非面向实现。切换后端只需替换一个对象，代码零改动。</a:t>
            </a:r>
            <a:br/>
            <a:r>
              <a:t>这是「开闭原则」(OCP) 的典型应用 — 对扩展开放，对修改封闭。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MyMemory 免费后端：分块请求与响应解析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Free Tier — 500 字符自动分块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MyMemory 是免费翻译记忆库 API，无需密钥即可调用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单次请求限制 500 字符 — 长文本必须分块 (chunk)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使用 Python 列表推导式按 400 字符切片，保留余量防止边界截断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所有分块结果用空格 join 拼接，保持语义连贯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25880"/>
            <a:ext cx="5486400" cy="43891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1732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1">
                <a:solidFill>
                  <a:srgbClr val="666666"/>
                </a:solidFill>
                <a:latin typeface="Consolas"/>
              </a:defRPr>
            </a:pPr>
            <a:r>
              <a:t>translator.py — MyMemoryBackend (L91-128)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18488"/>
            <a:ext cx="5212080" cy="4069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5"/>
              </a:spcAft>
              <a:defRPr sz="900" b="0">
                <a:solidFill>
                  <a:srgbClr val="1A1A1A"/>
                </a:solidFill>
                <a:latin typeface="Consolas"/>
              </a:defRPr>
            </a:pPr>
            <a:r>
              <a:t>class MyMemoryBackend(Backend):</a:t>
            </a:r>
            <a:br/>
            <a:r>
              <a:t>    BASE = "https://api.mymemory.translated.net/get"</a:t>
            </a:r>
            <a:br/>
            <a:br/>
            <a:r>
              <a:t>    def translate(self, text, src_key, tgt_key):</a:t>
            </a:r>
            <a:br/>
            <a:r>
              <a:t>        # 500字符限制 → 按400字符分块，留安全余量</a:t>
            </a:r>
            <a:br/>
            <a:r>
              <a:t>        chunks = [text[i:i+400]</a:t>
            </a:r>
            <a:br/>
            <a:r>
              <a:t>                  for i in range(0, len(text), 400)]</a:t>
            </a:r>
            <a:br/>
            <a:r>
              <a:t>        results = []</a:t>
            </a:r>
            <a:br/>
            <a:r>
              <a:t>        for chunk in chunks:</a:t>
            </a:r>
            <a:br/>
            <a:r>
              <a:t>            resp = requests.get(self.BASE, params={</a:t>
            </a:r>
            <a:br/>
            <a:r>
              <a:t>                "q": chunk,</a:t>
            </a:r>
            <a:br/>
            <a:r>
              <a:t>                "langpair": f"{src}|{tgt}",</a:t>
            </a:r>
            <a:br/>
            <a:r>
              <a:t>            }, timeout=20)</a:t>
            </a:r>
            <a:br/>
            <a:r>
              <a:t>            data = resp.json()</a:t>
            </a:r>
            <a:br/>
            <a:r>
              <a:t>            if data.get("responseStatus") != 200:</a:t>
            </a:r>
            <a:br/>
            <a:r>
              <a:t>                raise RuntimeError(</a:t>
            </a:r>
            <a:br/>
            <a:r>
              <a:t>                    data.get("responseDetails"))</a:t>
            </a:r>
            <a:br/>
            <a:r>
              <a:t>            results.append(</a:t>
            </a:r>
            <a:br/>
            <a:r>
              <a:t>                data["responseData"]["translatedText"])</a:t>
            </a:r>
            <a:br/>
            <a:r>
              <a:t>        return " ".join(results)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百度翻译后端：MD5 签名认证与语言码映射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High-Accuracy — 接口鉴权与字符集适配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百度翻译 API 需要 App ID + Secret Key，通过 MD5 签名鉴权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签名算法：md5(appid + text + salt + secret)，salt 为随机数防重放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百度使用独立语言代码体系 (BAIDU_CODES)：如 'zh'→中文, 'jp'→日文, 'fra'→法文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需要做代码映射：内部统一键 → 各后端各自转换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25880"/>
            <a:ext cx="5486400" cy="420624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1732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1">
                <a:solidFill>
                  <a:srgbClr val="666666"/>
                </a:solidFill>
                <a:latin typeface="Consolas"/>
              </a:defRPr>
            </a:pPr>
            <a:r>
              <a:t>translator.py — BaiduBackend (L131-173)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18488"/>
            <a:ext cx="5212080" cy="3886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5"/>
              </a:spcAft>
              <a:defRPr sz="900" b="0">
                <a:solidFill>
                  <a:srgbClr val="1A1A1A"/>
                </a:solidFill>
                <a:latin typeface="Consolas"/>
              </a:defRPr>
            </a:pPr>
            <a:r>
              <a:t>class BaiduBackend(Backend):</a:t>
            </a:r>
            <a:br/>
            <a:r>
              <a:t>    API = "https://fanyi-api.baidu.com/api/trans/vip/translate"</a:t>
            </a:r>
            <a:br/>
            <a:br/>
            <a:r>
              <a:t>    def translate(self, text, src_key, tgt_key):</a:t>
            </a:r>
            <a:br/>
            <a:r>
              <a:t>        src = self.BAIDU_CODES.get(src_key, src_key)</a:t>
            </a:r>
            <a:br/>
            <a:r>
              <a:t>        tgt = self.BAIDU_CODES.get(tgt_key, tgt_key)</a:t>
            </a:r>
            <a:br/>
            <a:br/>
            <a:r>
              <a:t>        salt = str(random.randint(10000, 99999))</a:t>
            </a:r>
            <a:br/>
            <a:r>
              <a:t>        sign_str = self.appid + text + salt + self.secret</a:t>
            </a:r>
            <a:br/>
            <a:r>
              <a:t>        sign = hashlib.md5(sign_str.encode()).hexdigest()</a:t>
            </a:r>
            <a:br/>
            <a:br/>
            <a:r>
              <a:t>        resp = requests.get(self.API, params={</a:t>
            </a:r>
            <a:br/>
            <a:r>
              <a:t>            "q": text, "from": src, "to": tgt,</a:t>
            </a:r>
            <a:br/>
            <a:r>
              <a:t>            "appid": self.appid, "salt": salt, "sign": sign,</a:t>
            </a:r>
            <a:br/>
            <a:r>
              <a:t>        }, timeout=15)</a:t>
            </a:r>
            <a:br/>
            <a:r>
              <a:t>        # 解析翻译结果</a:t>
            </a:r>
            <a:br/>
            <a:r>
              <a:t>        data = resp.json()</a:t>
            </a:r>
            <a:br/>
            <a:r>
              <a:t>        return "\n".join(</a:t>
            </a:r>
            <a:br/>
            <a:r>
              <a:t>            d["dst"] for d in data["trans_result"])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语言体系：45+ 语种的统一管理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Language Mapping — 显示名 → 内部键 → 后端码三层映射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三层映射架构：用户看到的「显示名」→ 程序内部「统一键」→ 各后端「原生码」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9184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界面层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59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English（英文）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3291840" cy="12801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214884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统一层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42316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59"/>
              </a:spcAft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LANG_KEYS['en']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103120"/>
            <a:ext cx="329184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14884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后端层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42316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59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MyMemory: 'en'</a:t>
            </a:r>
            <a:br/>
            <a:r>
              <a:t>Baidu: 'en'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10698480" cy="2560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03320"/>
            <a:ext cx="10424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1">
                <a:solidFill>
                  <a:srgbClr val="666666"/>
                </a:solidFill>
                <a:latin typeface="Consolas"/>
              </a:defRPr>
            </a:pPr>
            <a:r>
              <a:t>translator.py — LANG_KEYS (L24-72) + BAIDU_CODES (L136-148)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04488"/>
            <a:ext cx="10424160" cy="2240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5"/>
              </a:spcAft>
              <a:defRPr sz="900" b="0">
                <a:solidFill>
                  <a:srgbClr val="1A1A1A"/>
                </a:solidFill>
                <a:latin typeface="Consolas"/>
              </a:defRPr>
            </a:pPr>
            <a:r>
              <a:t>LANG_KEYS: dict[str, str] = {</a:t>
            </a:r>
            <a:br/>
            <a:r>
              <a:t>    "Auto Detect（自动检测）": "auto",</a:t>
            </a:r>
            <a:br/>
            <a:r>
              <a:t>    "English（英文）":          "en",</a:t>
            </a:r>
            <a:br/>
            <a:r>
              <a:t>    "Chinese Simplified（简体中文）": "zh-CN",</a:t>
            </a:r>
            <a:br/>
            <a:r>
              <a:t>    "Japanese（日文）":         "ja",</a:t>
            </a:r>
            <a:br/>
            <a:r>
              <a:t>    "Korean（韩文）":           "ko",</a:t>
            </a:r>
            <a:br/>
            <a:r>
              <a:t>    "French（法文）":           "fr",</a:t>
            </a:r>
            <a:br/>
            <a:r>
              <a:t>    # ... 45+ entries total</a:t>
            </a:r>
            <a:br/>
            <a:r>
              <a:t>}</a:t>
            </a:r>
            <a:br/>
            <a:br/>
            <a:r>
              <a:t># 百度有自己的编码体系</a:t>
            </a:r>
            <a:br/>
            <a:r>
              <a:t>BAIDU_CODES = {</a:t>
            </a:r>
            <a:br/>
            <a:r>
              <a:t>    "zh-CN": "zh", "zh-TW": "cht",</a:t>
            </a:r>
            <a:br/>
            <a:r>
              <a:t>    "ja": "jp",  "ko": "kor",</a:t>
            </a:r>
            <a:br/>
            <a:r>
              <a:t>    "fr": "fra", "de": "de", # 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GUI 交互设计：双面板 + 语言选择器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CustomTkinter — 现代化桌面 UI 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486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左右双面板布局：左侧输入框 + 右侧翻译结果，信息流清晰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语言选择器：FROM/TO 两个下拉框 + 中间「⇄」互换按钮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实时字符计数（0/5000），超 4800 变红警告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自适应系统明/暗主题 (ctk.set_appearance_mode('system'))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底部状态栏：彩色圆点 + 文字状态 + 进度条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5212080" cy="43891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1">
                <a:solidFill>
                  <a:srgbClr val="666666"/>
                </a:solidFill>
                <a:latin typeface="Consolas"/>
              </a:defRPr>
            </a:pPr>
            <a:r>
              <a:t>translator.py — UI 布局关键代码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618488"/>
            <a:ext cx="4937760" cy="4069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5"/>
              </a:spcAft>
              <a:defRPr sz="900" b="0">
                <a:solidFill>
                  <a:srgbClr val="1A1A1A"/>
                </a:solidFill>
                <a:latin typeface="Consolas"/>
              </a:defRPr>
            </a:pPr>
            <a:r>
              <a:t># 左右等宽双面板 (uniform="panel")</a:t>
            </a:r>
            <a:br/>
            <a:r>
              <a:t>container.grid_columnconfigure((0, 1), weight=1, uniform="panel")</a:t>
            </a:r>
            <a:br/>
            <a:br/>
            <a:r>
              <a:t># 语言互换按钮</a:t>
            </a:r>
            <a:br/>
            <a:r>
              <a:t>self.swap_btn = ctk.CTkButton(</a:t>
            </a:r>
            <a:br/>
            <a:r>
              <a:t>    inner, text="⇄", width=44, height=38,</a:t>
            </a:r>
            <a:br/>
            <a:r>
              <a:t>    font=ctk.CTkFont(size=20),</a:t>
            </a:r>
            <a:br/>
            <a:r>
              <a:t>    hover_color=("#2980b9", "#2471a3"),</a:t>
            </a:r>
            <a:br/>
            <a:r>
              <a:t>    command=self._swap)</a:t>
            </a:r>
            <a:br/>
            <a:br/>
            <a:r>
              <a:t># 字符计数 — 实时监控</a:t>
            </a:r>
            <a:br/>
            <a:r>
              <a:t>def _on_input_change(self, event=None):</a:t>
            </a:r>
            <a:br/>
            <a:r>
              <a:t>    n = len(self.input_box.get("0.0", "end-1c"))</a:t>
            </a:r>
            <a:br/>
            <a:r>
              <a:t>    self.char_label.configure(text=f"{n} / 5000")</a:t>
            </a:r>
            <a:br/>
            <a:r>
              <a:t>    if n &gt; 4800:  # 接近上限，红色警告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异步翻译：多线程 + UI 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Threading — 不阻塞 UI 主线程的翻译流水线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02920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663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19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① 用户点击 Translate</a:t>
            </a:r>
            <a:br/>
            <a:r>
              <a:t>    或按 Ctrl+Enter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02920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663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19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② UI 进入「翻译中」状态</a:t>
            </a:r>
            <a:br/>
            <a:r>
              <a:t>    btn disabled + 进度条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3239"/>
            <a:ext cx="502920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59"/>
            <a:ext cx="4663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19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③ 启动 daemon 线程</a:t>
            </a:r>
            <a:br/>
            <a:r>
              <a:t>    threading.Thread(daemon=True)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02920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663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19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④ 后端 API 调用</a:t>
            </a:r>
            <a:br/>
            <a:r>
              <a:t>    backend.translate()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00600"/>
            <a:ext cx="502920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4663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19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⑤ after(0, callback)</a:t>
            </a:r>
            <a:br/>
            <a:r>
              <a:t>    回到主线程更新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5486400" cy="384048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41732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1">
                <a:solidFill>
                  <a:srgbClr val="666666"/>
                </a:solidFill>
                <a:latin typeface="Consolas"/>
              </a:defRPr>
            </a:pPr>
            <a:r>
              <a:t>translator.py — 异步翻译流水线 (L647-672)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618488"/>
            <a:ext cx="5212080" cy="3520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5"/>
              </a:spcAft>
              <a:defRPr sz="900" b="0">
                <a:solidFill>
                  <a:srgbClr val="1A1A1A"/>
                </a:solidFill>
                <a:latin typeface="Consolas"/>
              </a:defRPr>
            </a:pPr>
            <a:r>
              <a:t>def _translate(self):</a:t>
            </a:r>
            <a:br/>
            <a:r>
              <a:t>    """入口 — UI 线程"""</a:t>
            </a:r>
            <a:br/>
            <a:r>
              <a:t>    self._set_translating(True)             # 按钮禁用 + 进度条启动</a:t>
            </a:r>
            <a:br/>
            <a:r>
              <a:t>    threading.Thread(</a:t>
            </a:r>
            <a:br/>
            <a:r>
              <a:t>        target=self._run_translation,       # 工作线程</a:t>
            </a:r>
            <a:br/>
            <a:r>
              <a:t>        args=(text, src_key, tgt_key),</a:t>
            </a:r>
            <a:br/>
            <a:r>
              <a:t>        daemon=True,                        # 主窗口关闭时自动回收</a:t>
            </a:r>
            <a:br/>
            <a:r>
              <a:t>    ).start()</a:t>
            </a:r>
            <a:br/>
            <a:br/>
            <a:r>
              <a:t>def _run_translation(self, text, src, tgt):</a:t>
            </a:r>
            <a:br/>
            <a:r>
              <a:t>    """工作线程 — 不阻塞 UI"""</a:t>
            </a:r>
            <a:br/>
            <a:r>
              <a:t>    try:</a:t>
            </a:r>
            <a:br/>
            <a:r>
              <a:t>        result = self.backend.translate(text, src, tgt)</a:t>
            </a:r>
            <a:br/>
            <a:r>
              <a:t>        self.after(0, self._on_done, result)  # 回到主线程</a:t>
            </a:r>
            <a:br/>
            <a:r>
              <a:t>    except Exception as exc:</a:t>
            </a:r>
            <a:br/>
            <a:r>
              <a:t>        self.after(0, self._on_error, str(exc))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错误处理：用户友好的异常分类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Error Classification — 将技术报错翻译成人话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30352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原始 API 错误信息对用户不友好（如 HTTP 429、Baidu error_code 54003）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设计思路：捕获异常 → 关键词匹配 → 映射为中文友好提示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覆盖场景：限流、网络断开、配额耗尽、认证失败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错误消息截断至 120 字符，防止 UI 布局被撑破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5212080" cy="365760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1">
                <a:solidFill>
                  <a:srgbClr val="666666"/>
                </a:solidFill>
                <a:latin typeface="Consolas"/>
              </a:defRPr>
            </a:pPr>
            <a:r>
              <a:t>translator.py — 错误分类处理 (L691-703)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618488"/>
            <a:ext cx="4937760" cy="3337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5"/>
              </a:spcAft>
              <a:defRPr sz="900" b="0">
                <a:solidFill>
                  <a:srgbClr val="1A1A1A"/>
                </a:solidFill>
                <a:latin typeface="Consolas"/>
              </a:defRPr>
            </a:pPr>
            <a:r>
              <a:t>def _on_error(self, msg: str):</a:t>
            </a:r>
            <a:br/>
            <a:r>
              <a:t>    self._set_translating(False)</a:t>
            </a:r>
            <a:br/>
            <a:r>
              <a:t>    lo = msg.lower()</a:t>
            </a:r>
            <a:br/>
            <a:r>
              <a:t>    if "block" in lo or "429" in lo:</a:t>
            </a:r>
            <a:br/>
            <a:r>
              <a:t>        msg = "Rate limited — wait a moment and retry"</a:t>
            </a:r>
            <a:br/>
            <a:r>
              <a:t>    elif "connect" in lo or "timeout" in lo:</a:t>
            </a:r>
            <a:br/>
            <a:r>
              <a:t>        msg = "Network error — check your internet connection"</a:t>
            </a:r>
            <a:br/>
            <a:r>
              <a:t>    elif "baidu[54003" in lo or "baidu[54004" in lo:</a:t>
            </a:r>
            <a:br/>
            <a:r>
              <a:t>        msg = "Baidu quota exhausted — check your balance"</a:t>
            </a:r>
            <a:br/>
            <a:r>
              <a:t>    elif "baidu[52001" in lo or "baidu[52002" in lo:</a:t>
            </a:r>
            <a:br/>
            <a:r>
              <a:t>        msg = "Baidu auth failed — check App ID and Secret"</a:t>
            </a:r>
            <a:br/>
            <a:r>
              <a:t>    self._set_status(f"Error: {msg[:120]}", "red")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57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19"/>
              </a:spcAft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网络错误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77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79"/>
              </a:spcAft>
              <a:defRPr sz="900" b="0">
                <a:solidFill>
                  <a:srgbClr val="666666"/>
                </a:solidFill>
                <a:latin typeface="Consolas"/>
              </a:defRPr>
            </a:pPr>
            <a:r>
              <a:t>connect / timeout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521208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5257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19"/>
              </a:spcAft>
              <a:defRPr sz="1100" b="1">
                <a:solidFill>
                  <a:srgbClr val="F39C12"/>
                </a:solidFill>
                <a:latin typeface="Microsoft YaHei"/>
              </a:defRPr>
            </a:pPr>
            <a:r>
              <a:t>限流 429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577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79"/>
              </a:spcAft>
              <a:defRPr sz="900" b="0">
                <a:solidFill>
                  <a:srgbClr val="666666"/>
                </a:solidFill>
                <a:latin typeface="Consolas"/>
              </a:defRPr>
            </a:pPr>
            <a:r>
              <a:t>block / 429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521208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5257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19"/>
              </a:spcAft>
              <a:defRPr sz="1100" b="1">
                <a:solidFill>
                  <a:srgbClr val="F39C12"/>
                </a:solidFill>
                <a:latin typeface="Microsoft YaHei"/>
              </a:defRPr>
            </a:pPr>
            <a:r>
              <a:t>配额耗尽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577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79"/>
              </a:spcAft>
              <a:defRPr sz="900" b="0">
                <a:solidFill>
                  <a:srgbClr val="666666"/>
                </a:solidFill>
                <a:latin typeface="Consolas"/>
              </a:defRPr>
            </a:pPr>
            <a:r>
              <a:t>baidu[54003/54004]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521208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5257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19"/>
              </a:spcAft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认证失败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5577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79"/>
              </a:spcAft>
              <a:defRPr sz="900" b="0">
                <a:solidFill>
                  <a:srgbClr val="666666"/>
                </a:solidFill>
                <a:latin typeface="Consolas"/>
              </a:defRPr>
            </a:pPr>
            <a:r>
              <a:t>baidu[52001/52002]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配置管理：JSON 持久化 + 后端热切换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Settings — 用户偏好本地存储与实时生效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配置以 JSON 格式存储在 translator_config.json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SettingsDialog 提供图形化设置界面，支持 MyMemory ↔ Baidu 切换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保存后立即重建后端对象 (hot reload)，无需重启应用</a:t>
            </a:r>
          </a:p>
          <a:p>
            <a:pPr>
              <a:spcAft>
                <a:spcPts val="719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API Key 字段使用 show='*' 掩码显示，保护隐私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25880"/>
            <a:ext cx="5486400" cy="420624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1732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1">
                <a:solidFill>
                  <a:srgbClr val="666666"/>
                </a:solidFill>
                <a:latin typeface="Consolas"/>
              </a:defRPr>
            </a:pPr>
            <a:r>
              <a:t>translator.py — Config (L328-350) + SettingsDialog (L180-299)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18488"/>
            <a:ext cx="5212080" cy="3886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15"/>
              </a:spcAft>
              <a:defRPr sz="900" b="0">
                <a:solidFill>
                  <a:srgbClr val="1A1A1A"/>
                </a:solidFill>
                <a:latin typeface="Consolas"/>
              </a:defRPr>
            </a:pPr>
            <a:r>
              <a:t># 配置文件结构</a:t>
            </a:r>
            <a:br/>
            <a:r>
              <a:t>{"backend": "mymemory", "baidu_appid": "", "baidu_secret": ""}</a:t>
            </a:r>
            <a:br/>
            <a:br/>
            <a:r>
              <a:t>def _reload_backend(self):</a:t>
            </a:r>
            <a:br/>
            <a:r>
              <a:t>    """热切换：重新读取配置 → 重建后端对象"""</a:t>
            </a:r>
            <a:br/>
            <a:r>
              <a:t>    self._load_config()</a:t>
            </a:r>
            <a:br/>
            <a:r>
              <a:t>    self._build_backend()</a:t>
            </a:r>
            <a:br/>
            <a:r>
              <a:t>    self._set_status(f"Switched to {self.backend.name}", "green")</a:t>
            </a:r>
            <a:br/>
            <a:br/>
            <a:r>
              <a:t>def _build_backend(self):</a:t>
            </a:r>
            <a:br/>
            <a:r>
              <a:t>    """工厂方法：根据配置创建后端实例"""</a:t>
            </a:r>
            <a:br/>
            <a:r>
              <a:t>    if self.cfg.get("backend") == "baidu" and ...:</a:t>
            </a:r>
            <a:br/>
            <a:r>
              <a:t>        self.backend = BaiduBackend(appid, secret)</a:t>
            </a:r>
            <a:br/>
            <a:r>
              <a:t>    else:</a:t>
            </a:r>
            <a:br/>
            <a:r>
              <a:t>        self.backend = MyMemoryBackend()  #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功能矩阵一览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Feature Matrix — 交互细节汇总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2980B9"/>
                </a:solidFill>
                <a:latin typeface="Microsoft YaHei"/>
              </a:defRPr>
            </a:pPr>
            <a:r>
              <a:t>剪贴板集成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846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5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Clear / Paste / Copy</a:t>
            </a:r>
            <a:br/>
            <a:r>
              <a:t>一键清空、粘贴、复制</a:t>
            </a:r>
            <a:br/>
            <a:r>
              <a:t>Copy 按钮悬停变绿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Consolas"/>
              </a:defRPr>
            </a:pPr>
            <a:r>
              <a:t>translator.py L580-603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1732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5544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2980B9"/>
                </a:solidFill>
                <a:latin typeface="Microsoft YaHei"/>
              </a:defRPr>
            </a:pPr>
            <a:r>
              <a:t>TTS 语音朗读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1965960"/>
            <a:ext cx="4846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5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调用 Windows SAPI</a:t>
            </a:r>
            <a:br/>
            <a:r>
              <a:t>PowerShell 子进程</a:t>
            </a:r>
            <a:br/>
            <a:r>
              <a:t>无窗口后台运行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31546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Consolas"/>
              </a:defRPr>
            </a:pPr>
            <a:r>
              <a:t>translator.py L605-623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9476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319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2980B9"/>
                </a:solidFill>
                <a:latin typeface="Microsoft YaHei"/>
              </a:defRPr>
            </a:pPr>
            <a:r>
              <a:t>语言互换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43400"/>
            <a:ext cx="4846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5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⇄ 按钮交换 FROM/TO</a:t>
            </a:r>
            <a:br/>
            <a:r>
              <a:t>同时交换输入输出文本</a:t>
            </a:r>
            <a:br/>
            <a:r>
              <a:t>自动检测不可作为源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5321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Consolas"/>
              </a:defRPr>
            </a:pPr>
            <a:r>
              <a:t>translator.py L625-644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3794760"/>
            <a:ext cx="5303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39319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2980B9"/>
                </a:solidFill>
                <a:latin typeface="Microsoft YaHei"/>
              </a:defRPr>
            </a:pPr>
            <a:r>
              <a:t>键盘快捷键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343400"/>
            <a:ext cx="4846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5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Ctrl+Enter 翻译</a:t>
            </a:r>
            <a:br/>
            <a:r>
              <a:t>Ctrl+A 全选输入</a:t>
            </a:r>
            <a:br/>
            <a:r>
              <a:t>Ctrl+Shift+C 复制结果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55321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Consolas"/>
              </a:defRPr>
            </a:pPr>
            <a:r>
              <a:t>translator.py L551-558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项目总结：设计亮点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Summary — 架构、体验、工程实践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5486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模块化后端架构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Backend 抽象基类实现策略模式，新增翻译引擎零改动现有代码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73152" cy="5486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完善的错误处理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从底层 API 异常到用户友好提示的完整映射链，覆盖 6 种故障场景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73152" cy="5486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异步非阻塞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71800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daemon 线程 + after() 回调，翻译过程中界面始终可交互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73152" cy="5486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39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45+ 语言支持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49039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三层语言码映射体系（显示名→内部键→后端码），适配多后端差异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26280"/>
            <a:ext cx="73152" cy="5486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桌面原生体验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526280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CustomTkinter 现代组件库 → 系统主题自适应、原生控件、本地快捷键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73152" cy="5486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工程化实践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303520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JSON 配置持久化、设置热切换、类型标注、单一职责原则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60"/>
              </a:spcAft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展望：可扩展方向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39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Future Work — 从工具到平台的演进路径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383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多后端扩展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5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接入 Google Translate、DeepL、Azure Translator，让用户自由选择最优引擎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3383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离线翻译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5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集成本地 NLLB / Opus-MT 模型，断网场景下仍可使用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3383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544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历史记录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6596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5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SQLite 存储翻译历史，支持搜索、收藏、导出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86200"/>
            <a:ext cx="3383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批量翻译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5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支持文件拖入（.txt / .docx / .srt 字幕），批量翻译并保持格式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886200"/>
            <a:ext cx="3383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OCR 截图翻译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3484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5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集成 Tesseract / Windows OCR API，截图即译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886200"/>
            <a:ext cx="33832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0233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80"/>
              </a:spcAft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跨平台发布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434840"/>
            <a:ext cx="30175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55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macOS / Linux 适配 + PyInstaller 打包，覆盖全桌面平台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159"/>
              </a:spcAft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